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58" r:id="rId4"/>
  </p:sldMasterIdLst>
  <p:notesMasterIdLst>
    <p:notesMasterId r:id="rId18"/>
  </p:notesMasterIdLst>
  <p:handoutMasterIdLst>
    <p:handoutMasterId r:id="rId19"/>
  </p:handoutMasterIdLst>
  <p:sldIdLst>
    <p:sldId id="410" r:id="rId5"/>
    <p:sldId id="383" r:id="rId6"/>
    <p:sldId id="409" r:id="rId7"/>
    <p:sldId id="389" r:id="rId8"/>
    <p:sldId id="391" r:id="rId9"/>
    <p:sldId id="397" r:id="rId10"/>
    <p:sldId id="408" r:id="rId11"/>
    <p:sldId id="407" r:id="rId12"/>
    <p:sldId id="405" r:id="rId13"/>
    <p:sldId id="404" r:id="rId14"/>
    <p:sldId id="406" r:id="rId15"/>
    <p:sldId id="403" r:id="rId16"/>
    <p:sldId id="39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78" autoAdjust="0"/>
    <p:restoredTop sz="96327" autoAdjust="0"/>
  </p:normalViewPr>
  <p:slideViewPr>
    <p:cSldViewPr snapToGrid="0">
      <p:cViewPr varScale="1">
        <p:scale>
          <a:sx n="101" d="100"/>
          <a:sy n="101" d="100"/>
        </p:scale>
        <p:origin x="224" y="64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4/30/25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4/30/25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433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248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BC04D-2568-C19F-6211-ABA7996C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BD96A4-D432-FA69-5E46-4DF91D77C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39921-CFBB-DE6F-31EB-81B758CA0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3E3F8-8185-F97B-2F08-1F44FCE2A5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777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60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7593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sz="4400" b="1" i="0" dirty="0">
                <a:effectLst/>
                <a:latin typeface="Georgia" panose="02040502050405020303" pitchFamily="18" charset="0"/>
              </a:rPr>
              <a:t>California Housing Price Prediction Using Machine Learning</a:t>
            </a:r>
            <a:endParaRPr lang="en-US" sz="4400" dirty="0"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6D436C-B3BD-D689-522A-6833FE1D9D7D}"/>
              </a:ext>
            </a:extLst>
          </p:cNvPr>
          <p:cNvSpPr txBox="1"/>
          <p:nvPr/>
        </p:nvSpPr>
        <p:spPr>
          <a:xfrm>
            <a:off x="6309904" y="4540469"/>
            <a:ext cx="5030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Project done individually by Alireza </a:t>
            </a:r>
            <a:r>
              <a:rPr lang="en-US" dirty="0" err="1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Mohammadshafie</a:t>
            </a:r>
            <a:endParaRPr lang="en-US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b="1" i="0" dirty="0">
                <a:effectLst/>
                <a:latin typeface="Georgia" panose="02040502050405020303" pitchFamily="18" charset="0"/>
              </a:rPr>
              <a:t>Project Design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/>
          <a:lstStyle/>
          <a:p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Develop an accurate machine learning model to predict housing prices.</a:t>
            </a:r>
          </a:p>
          <a:p>
            <a:endParaRPr lang="en-US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steps planned: </a:t>
            </a:r>
            <a:r>
              <a:rPr lang="en-US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exploration, preprocessing, feature engineering, model building, evaluation, and tuning</a:t>
            </a: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close-up of a plant">
            <a:extLst>
              <a:ext uri="{FF2B5EF4-FFF2-40B4-BE49-F238E27FC236}">
                <a16:creationId xmlns:a16="http://schemas.microsoft.com/office/drawing/2014/main" id="{8DB431A1-9806-9CFE-0E5F-1A5611C2A66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" r="23"/>
          <a:stretch/>
        </p:blipFill>
        <p:spPr>
          <a:xfrm>
            <a:off x="0" y="0"/>
            <a:ext cx="12192000" cy="6880225"/>
          </a:xfr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594CF3-435A-6A1E-074C-D8EEFF6FDC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099" y="1078397"/>
            <a:ext cx="10141802" cy="50565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E97AA7-0C92-7DAE-B27B-F6D4E8B436E2}"/>
              </a:ext>
            </a:extLst>
          </p:cNvPr>
          <p:cNvSpPr txBox="1"/>
          <p:nvPr/>
        </p:nvSpPr>
        <p:spPr>
          <a:xfrm>
            <a:off x="688768" y="308956"/>
            <a:ext cx="93275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0" dirty="0">
                <a:effectLst/>
                <a:latin typeface="Georgia" panose="02040502050405020303" pitchFamily="18" charset="0"/>
              </a:rPr>
              <a:t>Dataset contents overview:</a:t>
            </a:r>
            <a:endParaRPr lang="en-US" sz="4400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9372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8CE60-587E-1D5C-8B50-ED3441BA4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9835" y="210208"/>
            <a:ext cx="5486400" cy="1156138"/>
          </a:xfrm>
        </p:spPr>
        <p:txBody>
          <a:bodyPr/>
          <a:lstStyle/>
          <a:p>
            <a:r>
              <a:rPr lang="en-US" sz="4400" b="0" i="0" dirty="0">
                <a:effectLst/>
                <a:latin typeface="Georgia" panose="02040502050405020303" pitchFamily="18" charset="0"/>
              </a:rPr>
              <a:t>Handling missing data:</a:t>
            </a:r>
            <a:endParaRPr lang="en-US" sz="4400" dirty="0">
              <a:latin typeface="Georgia" panose="02040502050405020303" pitchFamily="18" charset="0"/>
            </a:endParaRPr>
          </a:p>
        </p:txBody>
      </p:sp>
      <p:pic>
        <p:nvPicPr>
          <p:cNvPr id="12" name="Picture Placeholder 4" descr="A close-up of a wood grain">
            <a:extLst>
              <a:ext uri="{FF2B5EF4-FFF2-40B4-BE49-F238E27FC236}">
                <a16:creationId xmlns:a16="http://schemas.microsoft.com/office/drawing/2014/main" id="{7D5BDB53-9169-3BBC-9362-0539514AC7D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1113"/>
            <a:ext cx="5791200" cy="6880226"/>
          </a:xfrm>
        </p:spPr>
      </p:pic>
      <p:pic>
        <p:nvPicPr>
          <p:cNvPr id="10" name="Picture 9" descr="A black and white text&#10;&#10;AI-generated content may be incorrect.">
            <a:extLst>
              <a:ext uri="{FF2B5EF4-FFF2-40B4-BE49-F238E27FC236}">
                <a16:creationId xmlns:a16="http://schemas.microsoft.com/office/drawing/2014/main" id="{248C97CC-AFAC-7599-7731-43DE9BB90A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3935" y="1645746"/>
            <a:ext cx="5279133" cy="428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871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773425"/>
          </a:xfrm>
        </p:spPr>
        <p:txBody>
          <a:bodyPr/>
          <a:lstStyle/>
          <a:p>
            <a:r>
              <a:rPr lang="en-US" b="0" i="0" dirty="0">
                <a:effectLst/>
                <a:latin typeface="Georgia" panose="02040502050405020303" pitchFamily="18" charset="0"/>
              </a:rPr>
              <a:t>Understand feature-target relationships:</a:t>
            </a:r>
            <a:endParaRPr lang="en-US" dirty="0">
              <a:latin typeface="Georgia" panose="02040502050405020303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51A35F52-A35F-C1B3-3FA8-CD8E6A556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400" y="1163865"/>
            <a:ext cx="10873740" cy="547253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966EC76-CDBF-E812-82B5-9CD772F2DDCF}"/>
              </a:ext>
            </a:extLst>
          </p:cNvPr>
          <p:cNvSpPr/>
          <p:nvPr/>
        </p:nvSpPr>
        <p:spPr>
          <a:xfrm>
            <a:off x="672662" y="5171090"/>
            <a:ext cx="8250621" cy="146530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33A5-8BE3-D44D-57F3-2EF161376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AB6D40A-2A0A-AF3D-8CF7-3ECD37765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2300" y="411479"/>
            <a:ext cx="9904004" cy="706121"/>
          </a:xfrm>
        </p:spPr>
        <p:txBody>
          <a:bodyPr/>
          <a:lstStyle/>
          <a:p>
            <a:r>
              <a:rPr lang="en-US" sz="4400" b="1" i="0" dirty="0">
                <a:effectLst/>
                <a:latin typeface="Georgia" panose="02040502050405020303" pitchFamily="18" charset="0"/>
              </a:rPr>
              <a:t>Feature Engineering:</a:t>
            </a:r>
            <a:endParaRPr lang="en-US" sz="4400" dirty="0">
              <a:latin typeface="Georgia" panose="02040502050405020303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442CD-A26D-1761-8CE7-8BC3075BB4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07263" y="1299210"/>
            <a:ext cx="5486399" cy="431799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Creation of new features from existing data</a:t>
            </a:r>
          </a:p>
          <a:p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F54F5D-8A89-32C1-10E5-526E1A0C5E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263" y="1912620"/>
            <a:ext cx="8177473" cy="1795779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CFC9B3-643E-518D-93FF-EB57C3C003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3399" y="3983990"/>
            <a:ext cx="7010400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059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775971"/>
          </a:xfrm>
        </p:spPr>
        <p:txBody>
          <a:bodyPr/>
          <a:lstStyle/>
          <a:p>
            <a:r>
              <a:rPr lang="en-US" b="1" i="0" dirty="0">
                <a:effectLst/>
                <a:latin typeface="Georgia" panose="02040502050405020303" pitchFamily="18" charset="0"/>
              </a:rPr>
              <a:t>Model Building and Evaluation: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406A97-8902-6D54-FDC4-991FFAAE08CA}"/>
              </a:ext>
            </a:extLst>
          </p:cNvPr>
          <p:cNvSpPr txBox="1"/>
          <p:nvPr/>
        </p:nvSpPr>
        <p:spPr>
          <a:xfrm>
            <a:off x="594360" y="1320800"/>
            <a:ext cx="80162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Split: 80% For Training , 20% For Testing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9CDE2E-62C1-E745-723D-F6934935170A}"/>
              </a:ext>
            </a:extLst>
          </p:cNvPr>
          <p:cNvSpPr txBox="1"/>
          <p:nvPr/>
        </p:nvSpPr>
        <p:spPr>
          <a:xfrm>
            <a:off x="594360" y="2466311"/>
            <a:ext cx="93091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Evaluation metrics applied:</a:t>
            </a:r>
            <a:endParaRPr lang="en-US" sz="4400" b="1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E7F9F0-D799-B624-81EB-ADEA333D192F}"/>
              </a:ext>
            </a:extLst>
          </p:cNvPr>
          <p:cNvSpPr txBox="1"/>
          <p:nvPr/>
        </p:nvSpPr>
        <p:spPr>
          <a:xfrm>
            <a:off x="594360" y="3235752"/>
            <a:ext cx="10185400" cy="31316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bg1"/>
                </a:solidFill>
                <a:effectLst/>
                <a:latin typeface="D-DINExp"/>
              </a:rPr>
              <a:t>MSE (Mean Squared Error):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D-DINExp"/>
              </a:rPr>
              <a:t> Average of squared differences between predicted and true values. Lower is better; penalizes large errors more.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bg1"/>
                </a:solidFill>
                <a:effectLst/>
                <a:latin typeface="D-DINExp"/>
              </a:rPr>
              <a:t>RMSE (Root Mean Squared Error):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D-DINExp"/>
              </a:rPr>
              <a:t> Square root of MSE; same units as target variable. Lower is better.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bg1"/>
                </a:solidFill>
                <a:effectLst/>
                <a:latin typeface="D-DINExp"/>
              </a:rPr>
              <a:t>MAE (Mean Absolute Error):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D-DINExp"/>
              </a:rPr>
              <a:t> Average of absolute differences between predicted and true values. Lower is better.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chemeClr val="bg1"/>
                </a:solidFill>
                <a:effectLst/>
                <a:latin typeface="D-DINExp"/>
              </a:rPr>
              <a:t>R-squared (Coefficient of Determination):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D-DINExp"/>
              </a:rPr>
              <a:t> Proportion of variance explained by the model. Closer to 1 means better fit; can be negative if model fits very poorly.</a:t>
            </a:r>
          </a:p>
        </p:txBody>
      </p:sp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FE4400-8CD3-1ADC-D213-F834E80AD0F6}"/>
              </a:ext>
            </a:extLst>
          </p:cNvPr>
          <p:cNvSpPr txBox="1"/>
          <p:nvPr/>
        </p:nvSpPr>
        <p:spPr>
          <a:xfrm>
            <a:off x="641350" y="304800"/>
            <a:ext cx="10318750" cy="54322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1500"/>
              </a:spcAft>
            </a:pPr>
            <a:r>
              <a:rPr lang="en-US" sz="2400" b="1" i="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Regression models implemented :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Polynomial Regression 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Lasso Regression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Elastic Net Regression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Regression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Regression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 Regression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Regression (SVR)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Regression</a:t>
            </a:r>
            <a:br>
              <a:rPr lang="en-US" b="0" i="0" dirty="0">
                <a:solidFill>
                  <a:schemeClr val="bg1"/>
                </a:solidFill>
                <a:effectLst/>
                <a:latin typeface="D-DINExp"/>
              </a:rPr>
            </a:b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225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7AEAC1-8DC5-98FA-D476-5857FB9B79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313172"/>
              </p:ext>
            </p:extLst>
          </p:nvPr>
        </p:nvGraphicFramePr>
        <p:xfrm>
          <a:off x="3175000" y="177800"/>
          <a:ext cx="8737600" cy="65024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747520">
                  <a:extLst>
                    <a:ext uri="{9D8B030D-6E8A-4147-A177-3AD203B41FA5}">
                      <a16:colId xmlns:a16="http://schemas.microsoft.com/office/drawing/2014/main" val="2641262937"/>
                    </a:ext>
                  </a:extLst>
                </a:gridCol>
                <a:gridCol w="1747520">
                  <a:extLst>
                    <a:ext uri="{9D8B030D-6E8A-4147-A177-3AD203B41FA5}">
                      <a16:colId xmlns:a16="http://schemas.microsoft.com/office/drawing/2014/main" val="3532276369"/>
                    </a:ext>
                  </a:extLst>
                </a:gridCol>
                <a:gridCol w="1747520">
                  <a:extLst>
                    <a:ext uri="{9D8B030D-6E8A-4147-A177-3AD203B41FA5}">
                      <a16:colId xmlns:a16="http://schemas.microsoft.com/office/drawing/2014/main" val="1246456512"/>
                    </a:ext>
                  </a:extLst>
                </a:gridCol>
                <a:gridCol w="1747520">
                  <a:extLst>
                    <a:ext uri="{9D8B030D-6E8A-4147-A177-3AD203B41FA5}">
                      <a16:colId xmlns:a16="http://schemas.microsoft.com/office/drawing/2014/main" val="2838142171"/>
                    </a:ext>
                  </a:extLst>
                </a:gridCol>
                <a:gridCol w="1747520">
                  <a:extLst>
                    <a:ext uri="{9D8B030D-6E8A-4147-A177-3AD203B41FA5}">
                      <a16:colId xmlns:a16="http://schemas.microsoft.com/office/drawing/2014/main" val="491123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R-squared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289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Support Vector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0.564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0.377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0.758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1132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Decision Tree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0.490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0.451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0.626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2271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Random Forest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0.325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7782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Elastic Net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1.043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0.805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0.204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4846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Lasso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1.311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1.145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0.906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-0.0002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9901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Ridge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0.472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0.687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0.496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0.640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7767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Gradient Boosting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0.288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0.537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0.366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0.780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7349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K-Nearest Neighbors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0.354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0.595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0.396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0.730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1586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0.472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0.687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0.496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0535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Polynomial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0.398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0.631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0.440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0.696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519174"/>
                  </a:ext>
                </a:extLst>
              </a:tr>
            </a:tbl>
          </a:graphicData>
        </a:graphic>
      </p:graphicFrame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34C470A-D93D-C683-5DEC-4BDD1CBE0B67}"/>
              </a:ext>
            </a:extLst>
          </p:cNvPr>
          <p:cNvSpPr/>
          <p:nvPr/>
        </p:nvSpPr>
        <p:spPr>
          <a:xfrm>
            <a:off x="2374900" y="1816100"/>
            <a:ext cx="9537700" cy="635000"/>
          </a:xfrm>
          <a:prstGeom prst="roundRect">
            <a:avLst/>
          </a:prstGeom>
          <a:noFill/>
          <a:ln w="7620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CE4B5C25-A694-78F0-C4CE-86181D5C8F7C}"/>
              </a:ext>
            </a:extLst>
          </p:cNvPr>
          <p:cNvSpPr/>
          <p:nvPr/>
        </p:nvSpPr>
        <p:spPr>
          <a:xfrm>
            <a:off x="165100" y="1644650"/>
            <a:ext cx="2120900" cy="97790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Best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BC9BD6-9AF9-1927-4F83-6AF0D38AF7CC}"/>
              </a:ext>
            </a:extLst>
          </p:cNvPr>
          <p:cNvSpPr txBox="1"/>
          <p:nvPr/>
        </p:nvSpPr>
        <p:spPr>
          <a:xfrm>
            <a:off x="0" y="0"/>
            <a:ext cx="31750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Comparison of model performances: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3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pPr algn="l">
              <a:spcAft>
                <a:spcPts val="750"/>
              </a:spcAft>
            </a:pPr>
            <a:r>
              <a:rPr lang="en-US" b="1" i="0" dirty="0">
                <a:effectLst/>
                <a:latin typeface="Georgia" panose="02040502050405020303" pitchFamily="18" charset="0"/>
              </a:rPr>
              <a:t>Model Tuning :</a:t>
            </a:r>
            <a:br>
              <a:rPr lang="en-US" b="0" i="0" dirty="0">
                <a:effectLst/>
                <a:latin typeface="Georgia" panose="02040502050405020303" pitchFamily="18" charset="0"/>
              </a:rPr>
            </a:br>
            <a:endParaRPr lang="en-US" b="0" i="0" dirty="0">
              <a:effectLst/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1688049"/>
            <a:ext cx="2820777" cy="53657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Grid search</a:t>
            </a:r>
          </a:p>
        </p:txBody>
      </p:sp>
      <p:pic>
        <p:nvPicPr>
          <p:cNvPr id="6" name="Content Placeholder 5" descr="A computer code with red green and blue text&#10;&#10;AI-generated content may be incorrect.">
            <a:extLst>
              <a:ext uri="{FF2B5EF4-FFF2-40B4-BE49-F238E27FC236}">
                <a16:creationId xmlns:a16="http://schemas.microsoft.com/office/drawing/2014/main" id="{FC678C6C-20F4-CE35-80FE-7FC062200761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062" y="3160712"/>
            <a:ext cx="3937000" cy="1460500"/>
          </a:xfrm>
        </p:spPr>
      </p:pic>
      <p:sp>
        <p:nvSpPr>
          <p:cNvPr id="7" name="Left Arrow 6">
            <a:extLst>
              <a:ext uri="{FF2B5EF4-FFF2-40B4-BE49-F238E27FC236}">
                <a16:creationId xmlns:a16="http://schemas.microsoft.com/office/drawing/2014/main" id="{3054E328-3526-29EB-CDD0-9F4149CF169E}"/>
              </a:ext>
            </a:extLst>
          </p:cNvPr>
          <p:cNvSpPr/>
          <p:nvPr/>
        </p:nvSpPr>
        <p:spPr>
          <a:xfrm rot="1034488">
            <a:off x="5088232" y="3163684"/>
            <a:ext cx="1803400" cy="296963"/>
          </a:xfrm>
          <a:prstGeom prst="lef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9F0A52-606D-B536-C431-34C244BA97B4}"/>
              </a:ext>
            </a:extLst>
          </p:cNvPr>
          <p:cNvSpPr txBox="1"/>
          <p:nvPr/>
        </p:nvSpPr>
        <p:spPr>
          <a:xfrm>
            <a:off x="2004748" y="2781902"/>
            <a:ext cx="32332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 Number of trees in the forest </a:t>
            </a:r>
            <a:endParaRPr lang="en-US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9" name="Left Arrow 8">
            <a:extLst>
              <a:ext uri="{FF2B5EF4-FFF2-40B4-BE49-F238E27FC236}">
                <a16:creationId xmlns:a16="http://schemas.microsoft.com/office/drawing/2014/main" id="{1E3B5AAC-7AEB-CE02-3835-CDDC1F48C334}"/>
              </a:ext>
            </a:extLst>
          </p:cNvPr>
          <p:cNvSpPr/>
          <p:nvPr/>
        </p:nvSpPr>
        <p:spPr>
          <a:xfrm rot="226608">
            <a:off x="5083900" y="3607636"/>
            <a:ext cx="1803400" cy="296963"/>
          </a:xfrm>
          <a:prstGeom prst="lef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Arrow 9">
            <a:extLst>
              <a:ext uri="{FF2B5EF4-FFF2-40B4-BE49-F238E27FC236}">
                <a16:creationId xmlns:a16="http://schemas.microsoft.com/office/drawing/2014/main" id="{4C9C76F3-2137-1832-E1DB-5327DC2783BD}"/>
              </a:ext>
            </a:extLst>
          </p:cNvPr>
          <p:cNvSpPr/>
          <p:nvPr/>
        </p:nvSpPr>
        <p:spPr>
          <a:xfrm rot="20781931">
            <a:off x="5082133" y="4206920"/>
            <a:ext cx="1803400" cy="296963"/>
          </a:xfrm>
          <a:prstGeom prst="left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2CB81E-9F2F-4201-F9D9-0195317C39E7}"/>
              </a:ext>
            </a:extLst>
          </p:cNvPr>
          <p:cNvSpPr txBox="1"/>
          <p:nvPr/>
        </p:nvSpPr>
        <p:spPr>
          <a:xfrm>
            <a:off x="1539266" y="3511148"/>
            <a:ext cx="3751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The maximum depth of each tree</a:t>
            </a:r>
            <a:endParaRPr lang="en-US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FCA1ED-83D0-F5ED-05F5-35FF66D711C0}"/>
              </a:ext>
            </a:extLst>
          </p:cNvPr>
          <p:cNvSpPr txBox="1"/>
          <p:nvPr/>
        </p:nvSpPr>
        <p:spPr>
          <a:xfrm>
            <a:off x="1642400" y="4426759"/>
            <a:ext cx="3545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Number of features to consider</a:t>
            </a:r>
            <a:endParaRPr lang="en-US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24B8906-58FD-D35E-122D-74C8A6186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748" y="5667321"/>
            <a:ext cx="7772400" cy="23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4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 animBg="1"/>
      <p:bldP spid="8" grpId="0"/>
      <p:bldP spid="9" grpId="0" animBg="1"/>
      <p:bldP spid="10" grpId="0" animBg="1"/>
      <p:bldP spid="10" grpId="1" animBg="1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A871D-B15E-C971-7C85-0AF173E38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78129"/>
            <a:ext cx="5304790" cy="2354026"/>
          </a:xfrm>
        </p:spPr>
        <p:txBody>
          <a:bodyPr/>
          <a:lstStyle/>
          <a:p>
            <a:pPr algn="l">
              <a:spcAft>
                <a:spcPts val="750"/>
              </a:spcAft>
            </a:pPr>
            <a:r>
              <a:rPr lang="en-US" b="1" i="0" dirty="0">
                <a:effectLst/>
                <a:latin typeface="Georgia" panose="02040502050405020303" pitchFamily="18" charset="0"/>
              </a:rPr>
              <a:t>Findings and Insights:</a:t>
            </a:r>
            <a:br>
              <a:rPr lang="en-US" b="0" i="0" dirty="0">
                <a:effectLst/>
                <a:latin typeface="D-DINExp"/>
              </a:rPr>
            </a:br>
            <a:br>
              <a:rPr lang="en-US" b="0" i="0" dirty="0">
                <a:effectLst/>
                <a:latin typeface="D-DINExp"/>
              </a:rPr>
            </a:br>
            <a:endParaRPr lang="en-US" b="0" i="0" dirty="0">
              <a:effectLst/>
              <a:latin typeface="D-DINExp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849C81-DA74-5840-7DD5-7B28B0821DE2}"/>
              </a:ext>
            </a:extLst>
          </p:cNvPr>
          <p:cNvGraphicFramePr>
            <a:graphicFrameLocks noGrp="1"/>
          </p:cNvGraphicFramePr>
          <p:nvPr>
            <p:ph sz="quarter" idx="16"/>
            <p:extLst>
              <p:ext uri="{D42A27DB-BD31-4B8C-83A1-F6EECF244321}">
                <p14:modId xmlns:p14="http://schemas.microsoft.com/office/powerpoint/2010/main" val="2760634702"/>
              </p:ext>
            </p:extLst>
          </p:nvPr>
        </p:nvGraphicFramePr>
        <p:xfrm>
          <a:off x="593725" y="3279775"/>
          <a:ext cx="5045073" cy="21234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681691">
                  <a:extLst>
                    <a:ext uri="{9D8B030D-6E8A-4147-A177-3AD203B41FA5}">
                      <a16:colId xmlns:a16="http://schemas.microsoft.com/office/drawing/2014/main" val="2301000855"/>
                    </a:ext>
                  </a:extLst>
                </a:gridCol>
                <a:gridCol w="1681691">
                  <a:extLst>
                    <a:ext uri="{9D8B030D-6E8A-4147-A177-3AD203B41FA5}">
                      <a16:colId xmlns:a16="http://schemas.microsoft.com/office/drawing/2014/main" val="3367268388"/>
                    </a:ext>
                  </a:extLst>
                </a:gridCol>
                <a:gridCol w="1681691">
                  <a:extLst>
                    <a:ext uri="{9D8B030D-6E8A-4147-A177-3AD203B41FA5}">
                      <a16:colId xmlns:a16="http://schemas.microsoft.com/office/drawing/2014/main" val="300624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Last Random Forest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New one Performance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7835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0.2504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0.2493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312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0.5004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0.4993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0713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0.3245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0.3283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8872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R-squared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0.8089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0.8097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681635"/>
                  </a:ext>
                </a:extLst>
              </a:tr>
            </a:tbl>
          </a:graphicData>
        </a:graphic>
      </p:graphicFrame>
      <p:pic>
        <p:nvPicPr>
          <p:cNvPr id="5" name="Picture Placeholder 52" descr="Hanging lightbulbs">
            <a:extLst>
              <a:ext uri="{FF2B5EF4-FFF2-40B4-BE49-F238E27FC236}">
                <a16:creationId xmlns:a16="http://schemas.microsoft.com/office/drawing/2014/main" id="{F2B2501C-600C-11B3-1ECD-912D988906A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r="16"/>
          <a:stretch/>
        </p:blipFill>
        <p:spPr>
          <a:xfrm>
            <a:off x="6096000" y="0"/>
            <a:ext cx="6118225" cy="6858000"/>
          </a:xfrm>
        </p:spPr>
      </p:pic>
    </p:spTree>
    <p:extLst>
      <p:ext uri="{BB962C8B-B14F-4D97-AF65-F5344CB8AC3E}">
        <p14:creationId xmlns:p14="http://schemas.microsoft.com/office/powerpoint/2010/main" val="298364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Visualizing Predictions vs True Prices :</a:t>
            </a:r>
          </a:p>
        </p:txBody>
      </p:sp>
      <p:pic>
        <p:nvPicPr>
          <p:cNvPr id="7" name="Picture 6" descr="A green line with red dots&#10;&#10;AI-generated content may be incorrect.">
            <a:extLst>
              <a:ext uri="{FF2B5EF4-FFF2-40B4-BE49-F238E27FC236}">
                <a16:creationId xmlns:a16="http://schemas.microsoft.com/office/drawing/2014/main" id="{CDEFDF65-CB50-290A-734F-2B9A08CF2B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535" y="1772725"/>
            <a:ext cx="6140450" cy="482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0FE134-9032-4C7F-BC57-C7DE3F83336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368</Words>
  <Application>Microsoft Macintosh PowerPoint</Application>
  <PresentationFormat>Widescreen</PresentationFormat>
  <Paragraphs>123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D-DINExp</vt:lpstr>
      <vt:lpstr>Franklin Gothic Book</vt:lpstr>
      <vt:lpstr>Franklin Gothic Demi</vt:lpstr>
      <vt:lpstr>Georgia</vt:lpstr>
      <vt:lpstr>Times New Roman</vt:lpstr>
      <vt:lpstr>Custom</vt:lpstr>
      <vt:lpstr>California Housing Price Prediction Using Machine Learning</vt:lpstr>
      <vt:lpstr>Project Design</vt:lpstr>
      <vt:lpstr>PowerPoint Presentation</vt:lpstr>
      <vt:lpstr>Handling missing data:</vt:lpstr>
      <vt:lpstr>Understand feature-target relationships:</vt:lpstr>
      <vt:lpstr>Feature Engineering:</vt:lpstr>
      <vt:lpstr>Model Building and Evaluation:</vt:lpstr>
      <vt:lpstr>PowerPoint Presentation</vt:lpstr>
      <vt:lpstr>PowerPoint Presentation</vt:lpstr>
      <vt:lpstr>Model Tuning : </vt:lpstr>
      <vt:lpstr>Findings and Insights:  </vt:lpstr>
      <vt:lpstr>Visualizing Predictions vs True Prices 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2023-12-20T08:12:12Z</dcterms:created>
  <dcterms:modified xsi:type="dcterms:W3CDTF">2025-04-30T18:42:05Z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37f4b8a2-ad4f-41b5-9a91-284d2cc38f56_Enabled">
    <vt:lpwstr>true</vt:lpwstr>
  </property>
  <property fmtid="{D5CDD505-2E9C-101B-9397-08002B2CF9AE}" pid="4" name="MSIP_Label_37f4b8a2-ad4f-41b5-9a91-284d2cc38f56_SetDate">
    <vt:lpwstr>2025-04-30T16:40:27Z</vt:lpwstr>
  </property>
  <property fmtid="{D5CDD505-2E9C-101B-9397-08002B2CF9AE}" pid="5" name="MSIP_Label_37f4b8a2-ad4f-41b5-9a91-284d2cc38f56_Method">
    <vt:lpwstr>Standard</vt:lpwstr>
  </property>
  <property fmtid="{D5CDD505-2E9C-101B-9397-08002B2CF9AE}" pid="6" name="MSIP_Label_37f4b8a2-ad4f-41b5-9a91-284d2cc38f56_Name">
    <vt:lpwstr>Internal-HSC</vt:lpwstr>
  </property>
  <property fmtid="{D5CDD505-2E9C-101B-9397-08002B2CF9AE}" pid="7" name="MSIP_Label_37f4b8a2-ad4f-41b5-9a91-284d2cc38f56_SiteId">
    <vt:lpwstr>70de1992-07c6-480f-a318-a1afcba03983</vt:lpwstr>
  </property>
  <property fmtid="{D5CDD505-2E9C-101B-9397-08002B2CF9AE}" pid="8" name="MSIP_Label_37f4b8a2-ad4f-41b5-9a91-284d2cc38f56_ActionId">
    <vt:lpwstr>61925f0a-6e32-4142-b2f2-91ea5e2d9423</vt:lpwstr>
  </property>
  <property fmtid="{D5CDD505-2E9C-101B-9397-08002B2CF9AE}" pid="9" name="MSIP_Label_37f4b8a2-ad4f-41b5-9a91-284d2cc38f56_ContentBits">
    <vt:lpwstr>0</vt:lpwstr>
  </property>
  <property fmtid="{D5CDD505-2E9C-101B-9397-08002B2CF9AE}" pid="10" name="MSIP_Label_37f4b8a2-ad4f-41b5-9a91-284d2cc38f56_Tag">
    <vt:lpwstr>50, 3, 0, 1</vt:lpwstr>
  </property>
</Properties>
</file>